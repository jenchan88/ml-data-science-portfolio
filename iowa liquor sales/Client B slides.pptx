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B0604020202020204" charset="0"/>
      <p:bold r:id="rId10"/>
      <p:boldItalic r:id="rId11"/>
    </p:embeddedFont>
    <p:embeddedFont>
      <p:font typeface="Inter Light" panose="020B0604020202020204" charset="0"/>
      <p:regular r:id="rId12"/>
      <p:bold r:id="rId13"/>
      <p:italic r:id="rId14"/>
      <p:boldItalic r:id="rId15"/>
    </p:embeddedFont>
    <p:embeddedFont>
      <p:font typeface="Philosopher" panose="020B0604020202020204" charset="0"/>
      <p:regular r:id="rId16"/>
      <p:bold r:id="rId17"/>
      <p:italic r:id="rId18"/>
      <p:boldItalic r:id="rId19"/>
    </p:embeddedFont>
    <p:embeddedFont>
      <p:font typeface="Proxima Nova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a3854fc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g2fa3854fc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a3854fc2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2fa3854fc2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a6e063a47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0a6e063a47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a396de82f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2fa396de82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a396de82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2fa396de82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a6e063a4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0a6e063a4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a3854fc2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fa3854fc2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13"/>
          <p:cNvCxnSpPr/>
          <p:nvPr/>
        </p:nvCxnSpPr>
        <p:spPr>
          <a:xfrm rot="10800000" flipH="1">
            <a:off x="-45150" y="3476975"/>
            <a:ext cx="9224100" cy="135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13"/>
          <p:cNvSpPr txBox="1"/>
          <p:nvPr/>
        </p:nvSpPr>
        <p:spPr>
          <a:xfrm>
            <a:off x="514350" y="1705900"/>
            <a:ext cx="48756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C2D076"/>
                </a:solidFill>
                <a:latin typeface="Philosopher"/>
                <a:ea typeface="Philosopher"/>
                <a:cs typeface="Philosopher"/>
                <a:sym typeface="Philosopher"/>
              </a:rPr>
              <a:t>Alcohol Sale Trends in Iowa</a:t>
            </a:r>
            <a:endParaRPr sz="4400" b="1">
              <a:solidFill>
                <a:srgbClr val="C2D076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466488" y="987563"/>
            <a:ext cx="869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62" name="Google Shape;62;p13"/>
          <p:cNvSpPr txBox="1"/>
          <p:nvPr/>
        </p:nvSpPr>
        <p:spPr>
          <a:xfrm>
            <a:off x="4022300" y="212113"/>
            <a:ext cx="10995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63" name="Google Shape;63;p13"/>
          <p:cNvSpPr txBox="1"/>
          <p:nvPr/>
        </p:nvSpPr>
        <p:spPr>
          <a:xfrm>
            <a:off x="7944088" y="212113"/>
            <a:ext cx="6855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425975" y="335400"/>
            <a:ext cx="49149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001514"/>
                </a:solidFill>
                <a:latin typeface="Philosopher"/>
                <a:ea typeface="Philosopher"/>
                <a:cs typeface="Philosopher"/>
                <a:sym typeface="Philosopher"/>
              </a:rPr>
              <a:t>Analysis Methods</a:t>
            </a:r>
            <a:endParaRPr sz="700" b="1">
              <a:latin typeface="Philosopher"/>
              <a:ea typeface="Philosopher"/>
              <a:cs typeface="Philosopher"/>
              <a:sym typeface="Philosopher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 rot="10800000" flipH="1">
            <a:off x="-40050" y="1012800"/>
            <a:ext cx="9224100" cy="135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14"/>
          <p:cNvSpPr txBox="1"/>
          <p:nvPr/>
        </p:nvSpPr>
        <p:spPr>
          <a:xfrm>
            <a:off x="475050" y="1170275"/>
            <a:ext cx="42993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Merged in multiple data sets related to unemployment rates, county demographics and college towns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grouped the dataset based off of county, creating features such as store count per county or average age within a county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Used linear regression to then calculate the least squares line to see if there is a strong association between the variable and sales.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675" y="1307700"/>
            <a:ext cx="3410100" cy="34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2203250" y="287478"/>
            <a:ext cx="34779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78" name="Google Shape;78;p15"/>
          <p:cNvSpPr txBox="1"/>
          <p:nvPr/>
        </p:nvSpPr>
        <p:spPr>
          <a:xfrm>
            <a:off x="42619" y="1331870"/>
            <a:ext cx="3479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y=-16.104x+174.686</a:t>
            </a:r>
            <a:endParaRPr sz="22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84824" y="1707800"/>
            <a:ext cx="303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For each increase in the unemployment rate within a county, the average amount spent on an alcohol sale in that county goes down by $16.10</a:t>
            </a:r>
            <a:endParaRPr sz="700"/>
          </a:p>
        </p:txBody>
      </p:sp>
      <p:sp>
        <p:nvSpPr>
          <p:cNvPr id="80" name="Google Shape;80;p15"/>
          <p:cNvSpPr txBox="1"/>
          <p:nvPr/>
        </p:nvSpPr>
        <p:spPr>
          <a:xfrm>
            <a:off x="42619" y="2412640"/>
            <a:ext cx="34791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Grouped by County</a:t>
            </a: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04474" y="2759563"/>
            <a:ext cx="299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Each point represents a county, with one clear outlier being Dallas County</a:t>
            </a:r>
            <a:endParaRPr sz="9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034069" y="3513060"/>
            <a:ext cx="34791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83" name="Google Shape;83;p15"/>
          <p:cNvSpPr txBox="1"/>
          <p:nvPr/>
        </p:nvSpPr>
        <p:spPr>
          <a:xfrm>
            <a:off x="1090648" y="3673025"/>
            <a:ext cx="243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Removing Dallas county brings the MSE down  to 1652.04, which is what we want</a:t>
            </a:r>
            <a:endParaRPr sz="700"/>
          </a:p>
        </p:txBody>
      </p:sp>
      <p:cxnSp>
        <p:nvCxnSpPr>
          <p:cNvPr id="84" name="Google Shape;84;p15"/>
          <p:cNvCxnSpPr/>
          <p:nvPr/>
        </p:nvCxnSpPr>
        <p:spPr>
          <a:xfrm rot="10800000">
            <a:off x="3765525" y="602738"/>
            <a:ext cx="0" cy="41148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15"/>
          <p:cNvSpPr txBox="1"/>
          <p:nvPr/>
        </p:nvSpPr>
        <p:spPr>
          <a:xfrm>
            <a:off x="42625" y="3339823"/>
            <a:ext cx="34791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MSE: 4861.68</a:t>
            </a: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364575" y="287475"/>
            <a:ext cx="3946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C2D076"/>
                </a:solidFill>
                <a:latin typeface="Philosopher"/>
                <a:ea typeface="Philosopher"/>
                <a:cs typeface="Philosopher"/>
                <a:sym typeface="Philosopher"/>
              </a:rPr>
              <a:t>Unemployment Rate</a:t>
            </a:r>
            <a:endParaRPr sz="2500" b="1">
              <a:solidFill>
                <a:srgbClr val="C2D076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574" y="1087763"/>
            <a:ext cx="3946499" cy="3144780"/>
          </a:xfrm>
          <a:prstGeom prst="rect">
            <a:avLst/>
          </a:prstGeom>
          <a:noFill/>
          <a:ln w="3810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8" name="Google Shape;88;p15"/>
          <p:cNvSpPr txBox="1"/>
          <p:nvPr/>
        </p:nvSpPr>
        <p:spPr>
          <a:xfrm>
            <a:off x="5198325" y="1279675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Dallas</a:t>
            </a:r>
            <a:endParaRPr sz="9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2203250" y="287478"/>
            <a:ext cx="34779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94" name="Google Shape;94;p16"/>
          <p:cNvSpPr txBox="1"/>
          <p:nvPr/>
        </p:nvSpPr>
        <p:spPr>
          <a:xfrm>
            <a:off x="6034069" y="1351520"/>
            <a:ext cx="34791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y = 0.301x + 63.360</a:t>
            </a:r>
            <a:endParaRPr sz="22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034074" y="1727450"/>
            <a:ext cx="303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For each increase in the number of stores within a county, the average amount spent in an alcohol sale goes up by 30 cents.</a:t>
            </a:r>
            <a:endParaRPr sz="700"/>
          </a:p>
        </p:txBody>
      </p:sp>
      <p:sp>
        <p:nvSpPr>
          <p:cNvPr id="96" name="Google Shape;96;p16"/>
          <p:cNvSpPr txBox="1"/>
          <p:nvPr/>
        </p:nvSpPr>
        <p:spPr>
          <a:xfrm>
            <a:off x="6034069" y="2432290"/>
            <a:ext cx="34791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Grouped by County</a:t>
            </a:r>
            <a:endParaRPr sz="23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6053724" y="2730800"/>
            <a:ext cx="299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Each point represents a county, with our two  clear outliers being El Paso County and Dallas County</a:t>
            </a:r>
            <a:endParaRPr sz="9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6034069" y="3513060"/>
            <a:ext cx="34791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99" name="Google Shape;99;p16"/>
          <p:cNvSpPr txBox="1"/>
          <p:nvPr/>
        </p:nvSpPr>
        <p:spPr>
          <a:xfrm>
            <a:off x="6034074" y="3692675"/>
            <a:ext cx="294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R-squared value of 0.43 means that about 43% of the variability in average sales is explained by the number of liquor stores. This suggests a moderate positive association</a:t>
            </a:r>
            <a:endParaRPr sz="700"/>
          </a:p>
        </p:txBody>
      </p:sp>
      <p:cxnSp>
        <p:nvCxnSpPr>
          <p:cNvPr id="100" name="Google Shape;100;p16"/>
          <p:cNvCxnSpPr/>
          <p:nvPr/>
        </p:nvCxnSpPr>
        <p:spPr>
          <a:xfrm rot="10800000">
            <a:off x="5897100" y="632163"/>
            <a:ext cx="0" cy="41148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1" name="Google Shape;10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100" y="1067538"/>
            <a:ext cx="5143500" cy="3152775"/>
          </a:xfrm>
          <a:prstGeom prst="rect">
            <a:avLst/>
          </a:prstGeom>
          <a:noFill/>
          <a:ln w="3810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2" name="Google Shape;102;p16"/>
          <p:cNvSpPr txBox="1"/>
          <p:nvPr/>
        </p:nvSpPr>
        <p:spPr>
          <a:xfrm>
            <a:off x="1239775" y="3319575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El Paso</a:t>
            </a:r>
            <a:endParaRPr sz="9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4183500" y="1332125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Dallas</a:t>
            </a:r>
            <a:endParaRPr sz="9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6034075" y="3359469"/>
            <a:ext cx="34791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R-squared: 0.430</a:t>
            </a: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315800" y="373575"/>
            <a:ext cx="3308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C2D076"/>
                </a:solidFill>
                <a:latin typeface="Philosopher"/>
                <a:ea typeface="Philosopher"/>
                <a:cs typeface="Philosopher"/>
                <a:sym typeface="Philosopher"/>
              </a:rPr>
              <a:t>Liquor Store Density</a:t>
            </a:r>
            <a:endParaRPr sz="2500" b="1">
              <a:solidFill>
                <a:srgbClr val="C2D076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850" y="955587"/>
            <a:ext cx="4499950" cy="3585771"/>
          </a:xfrm>
          <a:prstGeom prst="rect">
            <a:avLst/>
          </a:prstGeom>
          <a:noFill/>
          <a:ln w="3810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1" name="Google Shape;111;p17"/>
          <p:cNvSpPr txBox="1"/>
          <p:nvPr/>
        </p:nvSpPr>
        <p:spPr>
          <a:xfrm>
            <a:off x="2203250" y="287478"/>
            <a:ext cx="34779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12" name="Google Shape;112;p17"/>
          <p:cNvSpPr txBox="1"/>
          <p:nvPr/>
        </p:nvSpPr>
        <p:spPr>
          <a:xfrm>
            <a:off x="42619" y="1331870"/>
            <a:ext cx="3479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y=0.009x+76.853</a:t>
            </a:r>
            <a:endParaRPr sz="22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84824" y="1707800"/>
            <a:ext cx="303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For each increase in the number of unique products within a county, the average amount spent on an alcohol sale in that county goes up by 0.9 cents.</a:t>
            </a:r>
            <a:endParaRPr sz="700"/>
          </a:p>
        </p:txBody>
      </p:sp>
      <p:sp>
        <p:nvSpPr>
          <p:cNvPr id="114" name="Google Shape;114;p17"/>
          <p:cNvSpPr txBox="1"/>
          <p:nvPr/>
        </p:nvSpPr>
        <p:spPr>
          <a:xfrm>
            <a:off x="42619" y="2412640"/>
            <a:ext cx="34791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Grouped by County</a:t>
            </a: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04474" y="2759563"/>
            <a:ext cx="2997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Each point represents a county, with our two clear outliers being El Paso County and Dallas County</a:t>
            </a:r>
            <a:endParaRPr sz="9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6034069" y="3513060"/>
            <a:ext cx="34791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17" name="Google Shape;117;p17"/>
          <p:cNvSpPr txBox="1"/>
          <p:nvPr/>
        </p:nvSpPr>
        <p:spPr>
          <a:xfrm>
            <a:off x="639124" y="3673025"/>
            <a:ext cx="288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R-squared value of 0.43 means that about 43% of the variability in average sales is explained by the number of liquor products. This suggests a moderate positive association</a:t>
            </a:r>
            <a:endParaRPr sz="700"/>
          </a:p>
        </p:txBody>
      </p:sp>
      <p:cxnSp>
        <p:nvCxnSpPr>
          <p:cNvPr id="118" name="Google Shape;118;p17"/>
          <p:cNvCxnSpPr/>
          <p:nvPr/>
        </p:nvCxnSpPr>
        <p:spPr>
          <a:xfrm rot="10800000">
            <a:off x="3765525" y="602738"/>
            <a:ext cx="0" cy="41148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17"/>
          <p:cNvSpPr txBox="1"/>
          <p:nvPr/>
        </p:nvSpPr>
        <p:spPr>
          <a:xfrm>
            <a:off x="4766750" y="3860725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El Paso</a:t>
            </a:r>
            <a:endParaRPr sz="9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918100" y="1191475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Dallas</a:t>
            </a:r>
            <a:endParaRPr sz="9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2625" y="3339823"/>
            <a:ext cx="34791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R-squared: 0.431</a:t>
            </a: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4364575" y="287475"/>
            <a:ext cx="39465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C2D076"/>
                </a:solidFill>
                <a:latin typeface="Philosopher"/>
                <a:ea typeface="Philosopher"/>
                <a:cs typeface="Philosopher"/>
                <a:sym typeface="Philosopher"/>
              </a:rPr>
              <a:t>Liquor Product Variety</a:t>
            </a:r>
            <a:endParaRPr sz="2500" b="1">
              <a:solidFill>
                <a:srgbClr val="C2D076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2203250" y="287478"/>
            <a:ext cx="34779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28" name="Google Shape;128;p18"/>
          <p:cNvSpPr txBox="1"/>
          <p:nvPr/>
        </p:nvSpPr>
        <p:spPr>
          <a:xfrm>
            <a:off x="5837769" y="1331870"/>
            <a:ext cx="34791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y = -4.07x + 292.562</a:t>
            </a:r>
            <a:endParaRPr sz="22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837774" y="1707800"/>
            <a:ext cx="303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For each increase in the average age within a county, the average amount spent in an alcohol sale goes down by $4.07.</a:t>
            </a:r>
            <a:endParaRPr sz="700"/>
          </a:p>
        </p:txBody>
      </p:sp>
      <p:sp>
        <p:nvSpPr>
          <p:cNvPr id="130" name="Google Shape;130;p18"/>
          <p:cNvSpPr txBox="1"/>
          <p:nvPr/>
        </p:nvSpPr>
        <p:spPr>
          <a:xfrm>
            <a:off x="5837769" y="2412640"/>
            <a:ext cx="34791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Grouped by County</a:t>
            </a:r>
            <a:endParaRPr sz="23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5857424" y="2711150"/>
            <a:ext cx="2997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Each point represents a county, with one clear outlier being Dallas County</a:t>
            </a:r>
            <a:endParaRPr sz="9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6034069" y="3513060"/>
            <a:ext cx="34791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133" name="Google Shape;133;p18"/>
          <p:cNvSpPr txBox="1"/>
          <p:nvPr/>
        </p:nvSpPr>
        <p:spPr>
          <a:xfrm>
            <a:off x="5837774" y="3673025"/>
            <a:ext cx="2997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Removing Dallas County brings the MSE down to 1648.132, </a:t>
            </a:r>
            <a:r>
              <a:rPr lang="en" sz="9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which is what we want</a:t>
            </a:r>
            <a:endParaRPr sz="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 rot="10800000">
            <a:off x="5592825" y="622338"/>
            <a:ext cx="0" cy="41148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18"/>
          <p:cNvSpPr txBox="1"/>
          <p:nvPr/>
        </p:nvSpPr>
        <p:spPr>
          <a:xfrm>
            <a:off x="5837775" y="3339819"/>
            <a:ext cx="34791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MSE: 4773.784</a:t>
            </a:r>
            <a:endParaRPr sz="2000" b="1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315800" y="373575"/>
            <a:ext cx="3308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C2D076"/>
                </a:solidFill>
                <a:latin typeface="Philosopher"/>
                <a:ea typeface="Philosopher"/>
                <a:cs typeface="Philosopher"/>
                <a:sym typeface="Philosopher"/>
              </a:rPr>
              <a:t>Age</a:t>
            </a:r>
            <a:endParaRPr sz="2500" b="1">
              <a:solidFill>
                <a:srgbClr val="C2D076"/>
              </a:solidFill>
              <a:latin typeface="Philosopher"/>
              <a:ea typeface="Philosopher"/>
              <a:cs typeface="Philosopher"/>
              <a:sym typeface="Philosopher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00" y="942975"/>
            <a:ext cx="4485825" cy="3574551"/>
          </a:xfrm>
          <a:prstGeom prst="rect">
            <a:avLst/>
          </a:prstGeom>
          <a:noFill/>
          <a:ln w="3810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8" name="Google Shape;138;p18"/>
          <p:cNvSpPr txBox="1"/>
          <p:nvPr/>
        </p:nvSpPr>
        <p:spPr>
          <a:xfrm>
            <a:off x="2736675" y="1193150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Dallas</a:t>
            </a:r>
            <a:endParaRPr sz="9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2566050" y="574901"/>
            <a:ext cx="40119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C2D076"/>
                </a:solidFill>
                <a:latin typeface="Philosopher"/>
                <a:ea typeface="Philosopher"/>
                <a:cs typeface="Philosopher"/>
                <a:sym typeface="Philosopher"/>
              </a:rPr>
              <a:t>Conclusions</a:t>
            </a:r>
            <a:endParaRPr sz="700" b="1">
              <a:latin typeface="Philosopher"/>
              <a:ea typeface="Philosopher"/>
              <a:cs typeface="Philosopher"/>
              <a:sym typeface="Philosopher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402950" y="1079997"/>
            <a:ext cx="6338100" cy="43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●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higher the liquor store density, the higher the average sales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○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More stores makes it easier to buy more alcohol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●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Liquor stores that have more unique products tend to have higher average sales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○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More products means more things to try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●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older people are, the less they spend on alcohol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○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People drink less as they get older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457200" lvl="0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●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higher the unemployment rate, the less people spend on alcohol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914400" lvl="1" indent="-33655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 Light"/>
              <a:buChar char="○"/>
            </a:pPr>
            <a:r>
              <a:rPr lang="en" sz="17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Employed people have more money to purchase  alcohol</a:t>
            </a:r>
            <a:endParaRPr sz="17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On-screen Show (16:9)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Inter Light</vt:lpstr>
      <vt:lpstr>Philosopher</vt:lpstr>
      <vt:lpstr>Inter</vt:lpstr>
      <vt:lpstr>Proxima Nova</vt:lpstr>
      <vt:lpstr>Arial</vt:lpstr>
      <vt:lpstr>Spearmint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Jenna Chan</cp:lastModifiedBy>
  <cp:revision>1</cp:revision>
  <dcterms:modified xsi:type="dcterms:W3CDTF">2026-01-29T05:15:29Z</dcterms:modified>
</cp:coreProperties>
</file>